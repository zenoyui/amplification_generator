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Колледж МТК при РОСБИОТЕХ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Реферат по истории для специальности «Информационные технологии»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11680" cy="0"/>
          </a:xfrm>
          <a:prstGeom prst="line">
            <a:avLst/>
          </a:prstGeom>
          <a:noFill/>
          <a:ln w="31750">
            <a:solidFill>
              <a:srgbClr val="4CAF7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Интернет в России 1990-х: первые сети, провайдеры и контент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Свешников Денис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25о9-090207-ИС/3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31375" y="5989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E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Введение</a:t>
            </a:r>
            <a:endParaRPr lang="en-US" sz="3000" dirty="0"/>
          </a:p>
        </p:txBody>
      </p:sp>
      <p:grpSp>
        <p:nvGrpSpPr>
          <p:cNvPr id="113" name="ContentGroup"/>
          <p:cNvGrpSpPr/>
          <p:nvPr/>
        </p:nvGrpSpPr>
        <p:grpSpPr>
          <a:xfrm>
            <a:off x="548640" y="1417320"/>
            <a:ext cx="10881360" cy="4617720"/>
            <a:chOff x="548640" y="1417320"/>
            <a:chExt cx="10881360" cy="4617720"/>
          </a:xfrm>
        </p:grpSpPr>
        <p:sp>
          <p:nvSpPr>
            <p:cNvPr id="3" name="Text 1"/>
            <p:cNvSpPr txBox="1"/>
            <p:nvPr/>
          </p:nvSpPr>
          <p:spPr>
            <a:xfrm>
              <a:off x="548640" y="1417320"/>
              <a:ext cx="7040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500" b="1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Актуальность</a:t>
              </a:r>
              <a:endParaRPr lang="en-US" sz="1500" dirty="0"/>
            </a:p>
          </p:txBody>
        </p:sp>
        <p:sp>
          <p:nvSpPr>
            <p:cNvPr id="4" name="Text 2"/>
            <p:cNvSpPr txBox="1"/>
            <p:nvPr/>
          </p:nvSpPr>
          <p:spPr>
            <a:xfrm>
              <a:off x="548640" y="1783080"/>
              <a:ext cx="7040880" cy="960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indent="0" marL="0">
                <a:buNone/>
              </a:pPr>
              <a:r>
                <a:rPr lang="en-US" sz="17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Современный Рунет и мобильный интернет выросли из решений, найденных всего за несколько лет в начале 1990-х годов.</a:t>
              </a:r>
              <a:endParaRPr lang="en-US" sz="1700" dirty="0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548640" y="2788920"/>
              <a:ext cx="7040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500" b="1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Цель</a:t>
              </a:r>
              <a:endParaRPr lang="en-US" sz="150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548640" y="3154680"/>
              <a:ext cx="704088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indent="0" marL="0">
                <a:buNone/>
              </a:pPr>
              <a:r>
                <a:rPr lang="en-US" sz="17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Проследить, как в СССР и России появились первые компьютерные сети, провайдеры, доменная зона и первые сайты.</a:t>
              </a:r>
              <a:endParaRPr lang="en-US" sz="17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548640" y="3931920"/>
              <a:ext cx="7040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500" b="1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Задачи</a:t>
              </a:r>
              <a:endParaRPr lang="en-US" sz="15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48640" y="4297680"/>
              <a:ext cx="7040880" cy="1737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lnSpc>
                  <a:spcPct val="125000"/>
                </a:lnSpc>
                <a:buSzPct val="100000"/>
                <a:buChar char="■"/>
              </a:pPr>
              <a:r>
                <a:rPr lang="en-US" sz="16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Рассмотреть сети Релком и FidoNet и их роль в 1990 и 1991 годах.</a:t>
              </a:r>
              <a:endParaRPr lang="en-US" sz="1600" dirty="0"/>
            </a:p>
            <a:p>
              <a:pPr marL="228600" indent="-228600">
                <a:lnSpc>
                  <a:spcPct val="125000"/>
                </a:lnSpc>
                <a:buSzPct val="100000"/>
                <a:buChar char="■"/>
              </a:pPr>
              <a:r>
                <a:rPr lang="en-US" sz="16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Разобрать появление домена .ru и первого сайта в этой зоне.</a:t>
              </a:r>
              <a:endParaRPr lang="en-US" sz="1600" dirty="0"/>
            </a:p>
            <a:p>
              <a:pPr marL="228600" indent="-228600">
                <a:lnSpc>
                  <a:spcPct val="125000"/>
                </a:lnSpc>
                <a:buSzPct val="100000"/>
                <a:buChar char="■"/>
              </a:pPr>
              <a:r>
                <a:rPr lang="en-US" sz="16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Показать, как сложился рынок первых поисковых систем и провайдеров.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138160" y="1783080"/>
              <a:ext cx="3291840" cy="2103120"/>
            </a:xfrm>
            <a:prstGeom prst="roundRect">
              <a:avLst>
                <a:gd name="adj" fmla="val 2609"/>
              </a:avLst>
            </a:prstGeom>
            <a:solidFill>
              <a:srgbClr val="EEF3F6"/>
            </a:solidFill>
            <a:ln/>
          </p:spPr>
        </p:sp>
        <p:sp>
          <p:nvSpPr>
            <p:cNvPr id="10" name="Text 8"/>
            <p:cNvSpPr txBox="1"/>
            <p:nvPr/>
          </p:nvSpPr>
          <p:spPr>
            <a:xfrm>
              <a:off x="8366760" y="1965960"/>
              <a:ext cx="2834640" cy="1051560"/>
            </a:xfrm>
            <a:prstGeom prst="rect">
              <a:avLst/>
            </a:prstGeom>
            <a:noFill/>
            <a:ln/>
          </p:spPr>
          <p:txBody>
            <a:bodyPr wrap="square" rtlCol="0" anchor="b">
              <a:spAutoFit/>
            </a:bodyPr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1990</a:t>
              </a:r>
              <a:endParaRPr lang="en-US" sz="30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8366760" y="2939796"/>
              <a:ext cx="2834640" cy="8412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l" indent="0" marL="0">
                <a:buNone/>
              </a:pPr>
              <a:r>
                <a:rPr lang="en-US" sz="1400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год, когда в СССР заработали первые компьютерные сети</a:t>
              </a:r>
              <a:endParaRPr lang="en-US" sz="1400" dirty="0"/>
            </a:p>
          </p:txBody>
        </p:sp>
      </p:grpSp>
      <p:sp>
        <p:nvSpPr>
          <p:cNvPr id="12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российского интернета: 1990–1997</a:t>
            </a:r>
            <a:endParaRPr lang="en-US" sz="2800" dirty="0"/>
          </a:p>
        </p:txBody>
      </p:sp>
      <p:grpSp>
        <p:nvGrpSpPr>
          <p:cNvPr id="120" name="ContentGroup"/>
          <p:cNvGrpSpPr/>
          <p:nvPr/>
        </p:nvGrpSpPr>
        <p:grpSpPr>
          <a:xfrm>
            <a:off x="-45720" y="2971800"/>
            <a:ext cx="12298680" cy="2029968"/>
            <a:chOff x="-45720" y="2971800"/>
            <a:chExt cx="12298680" cy="2029968"/>
          </a:xfrm>
        </p:grpSpPr>
        <p:sp>
          <p:nvSpPr>
            <p:cNvPr id="3" name="Shape 1"/>
            <p:cNvSpPr/>
            <p:nvPr/>
          </p:nvSpPr>
          <p:spPr>
            <a:xfrm>
              <a:off x="914400" y="3749040"/>
              <a:ext cx="10378440" cy="0"/>
            </a:xfrm>
            <a:prstGeom prst="line">
              <a:avLst/>
            </a:prstGeom>
            <a:noFill/>
            <a:ln w="25400">
              <a:solidFill>
                <a:srgbClr val="3A506B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813816" y="3648456"/>
              <a:ext cx="201168" cy="201168"/>
            </a:xfrm>
            <a:prstGeom prst="ellipse">
              <a:avLst/>
            </a:prstGeom>
            <a:solidFill>
              <a:srgbClr val="4CAF7D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" name="Text 3"/>
            <p:cNvSpPr txBox="1"/>
            <p:nvPr/>
          </p:nvSpPr>
          <p:spPr>
            <a:xfrm>
              <a:off x="91440" y="2971800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9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1990</a:t>
              </a:r>
              <a:endParaRPr lang="en-US" sz="190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-45720" y="3950208"/>
              <a:ext cx="1920240" cy="10515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Релком и FidoNet: первые сети в СССР</a:t>
              </a:r>
              <a:endParaRPr lang="en-US" sz="12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08426" y="3648456"/>
              <a:ext cx="201168" cy="201168"/>
            </a:xfrm>
            <a:prstGeom prst="ellipse">
              <a:avLst/>
            </a:prstGeom>
            <a:solidFill>
              <a:srgbClr val="4CAF7D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2686050" y="2971800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9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1991</a:t>
              </a:r>
              <a:endParaRPr lang="en-US" sz="19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2548890" y="3950208"/>
              <a:ext cx="1920240" cy="10515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Путч: сети передают новости за рубеж</a:t>
              </a:r>
              <a:endParaRPr lang="en-US" sz="12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003036" y="3648456"/>
              <a:ext cx="201168" cy="201168"/>
            </a:xfrm>
            <a:prstGeom prst="ellipse">
              <a:avLst/>
            </a:prstGeom>
            <a:solidFill>
              <a:srgbClr val="4CAF7D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 txBox="1"/>
            <p:nvPr/>
          </p:nvSpPr>
          <p:spPr>
            <a:xfrm>
              <a:off x="5280660" y="2971800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9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1994</a:t>
              </a:r>
              <a:endParaRPr lang="en-US" sz="19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5143500" y="3950208"/>
              <a:ext cx="1920240" cy="10515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Регистрация домена .ru</a:t>
              </a:r>
              <a:endParaRPr lang="en-US" sz="12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597646" y="3648456"/>
              <a:ext cx="201168" cy="201168"/>
            </a:xfrm>
            <a:prstGeom prst="ellipse">
              <a:avLst/>
            </a:prstGeom>
            <a:solidFill>
              <a:srgbClr val="4CAF7D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 txBox="1"/>
            <p:nvPr/>
          </p:nvSpPr>
          <p:spPr>
            <a:xfrm>
              <a:off x="7875270" y="2971800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9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1996</a:t>
              </a:r>
              <a:endParaRPr lang="en-US" sz="19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7738110" y="3950208"/>
              <a:ext cx="1920240" cy="10515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Запуск Рамблера и Апорта</a:t>
              </a:r>
              <a:endParaRPr lang="en-US" sz="12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1192256" y="3648456"/>
              <a:ext cx="201168" cy="201168"/>
            </a:xfrm>
            <a:prstGeom prst="ellipse">
              <a:avLst/>
            </a:prstGeom>
            <a:solidFill>
              <a:srgbClr val="4CAF7D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 txBox="1"/>
            <p:nvPr/>
          </p:nvSpPr>
          <p:spPr>
            <a:xfrm>
              <a:off x="10469880" y="2971800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9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1997</a:t>
              </a:r>
              <a:endParaRPr lang="en-US" sz="19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10332720" y="3950208"/>
              <a:ext cx="1920240" cy="10515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Открытие Яндекса</a:t>
              </a:r>
              <a:endParaRPr lang="en-US" sz="1250" dirty="0"/>
            </a:p>
          </p:txBody>
        </p:sp>
      </p:grp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независимых начала</a:t>
            </a:r>
            <a:endParaRPr lang="en-US" sz="2800" dirty="0"/>
          </a:p>
        </p:txBody>
      </p:sp>
      <p:grpSp>
        <p:nvGrpSpPr>
          <p:cNvPr id="105" name="ContentGroup"/>
          <p:cNvGrpSpPr/>
          <p:nvPr/>
        </p:nvGrpSpPr>
        <p:grpSpPr>
          <a:xfrm>
            <a:off x="548640" y="1600200"/>
            <a:ext cx="11064240" cy="914400"/>
            <a:chOff x="548640" y="1600200"/>
            <a:chExt cx="11064240" cy="914400"/>
          </a:xfrm>
        </p:grpSpPr>
        <p:graphicFrame>
          <p:nvGraphicFramePr>
            <p:cNvPr id="5" name="Table 0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548640" y="1600200"/>
            <a:ext cx="11064240" cy="914400"/>
          </p:xfrm>
          <a:graphic>
            <a:graphicData uri="http://schemas.openxmlformats.org/drawingml/2006/table">
              <a:tbl>
                <a:tblPr/>
                <a:tblGrid>
                  <a:gridCol w="3108960"/>
                  <a:gridCol w="3977640"/>
                  <a:gridCol w="3977640"/>
                </a:tblGrid>
                <a:tr h="777240"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500" b="1" dirty="0">
                            <a:solidFill>
                              <a:srgbClr val="FFFFFF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Критерий</a:t>
                        </a:r>
                        <a:endParaRPr lang="en-US" sz="15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13293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500" b="1" dirty="0">
                            <a:solidFill>
                              <a:srgbClr val="FFFFFF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Релком</a:t>
                        </a:r>
                        <a:endParaRPr lang="en-US" sz="15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13293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500" b="1" dirty="0">
                            <a:solidFill>
                              <a:srgbClr val="FFFFFF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FidoNet</a:t>
                        </a:r>
                        <a:endParaRPr lang="en-US" sz="15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13293D"/>
                      </a:solidFill>
                    </a:tcPr>
                  </a:tc>
                </a:tr>
                <a:tr h="777240"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b="1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Год запуска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1990, август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1990, сентябрь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7240"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b="1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Где возникла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EF3F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Институт атомной энергии им. Курчатова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EF3F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Любительские BBS-станции энтузиастов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EF3F6"/>
                      </a:solidFill>
                    </a:tcPr>
                  </a:tc>
                </a:tr>
                <a:tr h="777240"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b="1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Как передавались данные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Протокол UUCP по телефонным модемам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Собственный протокол FidoNet, эхопочта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7240"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b="1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Кто строил сеть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EF3F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Кооператив «Демос»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EF3F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Сисопы на добровольных началах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EF3F6"/>
                      </a:solidFill>
                    </a:tcPr>
                  </a:tc>
                </a:tr>
                <a:tr h="777240"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b="1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Август 1991 года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Передача новостей о путче за рубеж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indent="0" marL="0">
                          <a:buNone/>
                        </a:pPr>
                        <a:r>
                          <a:rPr lang="en-US" sz="1400" dirty="0">
                            <a:solidFill>
                              <a:srgbClr val="1B1B1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Передача новостей о путче наравне с Релкомом</a:t>
                        </a:r>
                        <a:endParaRPr lang="en-US" sz="1400" dirty="0">
                          <a:latin typeface="Calibri" charset="0"/>
                          <a:ea typeface="Calibri" charset="0"/>
                          <a:cs typeface="Calibri" charset="0"/>
                        </a:endParaRPr>
                      </a:p>
                    </a:txBody>
                    <a:tcPr marL="91440" marR="91440" marT="45720" marB="45720" anchor="ctr">
                      <a:lnL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rgbClr val="D8DEE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4" name="Text 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Релком: от Курчатовского института к .su</a:t>
            </a:r>
            <a:endParaRPr lang="en-US" sz="2800" dirty="0"/>
          </a:p>
        </p:txBody>
      </p:sp>
      <p:grpSp>
        <p:nvGrpSpPr>
          <p:cNvPr id="113" name="ContentGroup"/>
          <p:cNvGrpSpPr/>
          <p:nvPr/>
        </p:nvGrpSpPr>
        <p:grpSpPr>
          <a:xfrm>
            <a:off x="548640" y="585216"/>
            <a:ext cx="11055096" cy="5815584"/>
            <a:chOff x="548640" y="585216"/>
            <a:chExt cx="11055096" cy="5815584"/>
          </a:xfrm>
        </p:grpSpPr>
        <p:sp>
          <p:nvSpPr>
            <p:cNvPr id="3" name="Shape 1"/>
            <p:cNvSpPr/>
            <p:nvPr/>
          </p:nvSpPr>
          <p:spPr>
            <a:xfrm flipV="1">
              <a:off x="9692640" y="667512"/>
              <a:ext cx="9144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10607040" y="667512"/>
              <a:ext cx="9144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961034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10524744" y="585216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11439144" y="777240"/>
              <a:ext cx="164592" cy="164592"/>
            </a:xfrm>
            <a:prstGeom prst="ellipse">
              <a:avLst/>
            </a:prstGeom>
            <a:solidFill>
              <a:srgbClr val="4CAF7D"/>
            </a:solidFill>
            <a:ln/>
          </p:spPr>
        </p:sp>
        <p:sp>
          <p:nvSpPr>
            <p:cNvPr id="8" name="Text 6"/>
            <p:cNvSpPr txBox="1"/>
            <p:nvPr/>
          </p:nvSpPr>
          <p:spPr>
            <a:xfrm>
              <a:off x="548640" y="1417320"/>
              <a:ext cx="7040880" cy="4983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Сеть Релком выросла на базе Института атомной энергии имени Курчатова, где были и специалисты, и нужное оборудование.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Первый сеанс связи с университетом Хельсинки стал важным событием: оттуда начался обмен письмами с зарубежными коллегами.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Вместе с кооперативом «Демос» Релком оформил для СССР собственную доменную зону .su, которая объединила ресурсы страны.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Постепенно к электронной почте подключались всё новые организации, и интерес к сети заметно рос.</a:t>
              </a:r>
              <a:endParaRPr lang="en-US" sz="18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138160" y="2926080"/>
              <a:ext cx="3291840" cy="1965960"/>
            </a:xfrm>
            <a:prstGeom prst="roundRect">
              <a:avLst>
                <a:gd name="adj" fmla="val 2791"/>
              </a:avLst>
            </a:prstGeom>
            <a:solidFill>
              <a:srgbClr val="EEF3F6"/>
            </a:solidFill>
            <a:ln/>
          </p:spPr>
        </p:sp>
        <p:sp>
          <p:nvSpPr>
            <p:cNvPr id="10" name="Text 8"/>
            <p:cNvSpPr txBox="1"/>
            <p:nvPr/>
          </p:nvSpPr>
          <p:spPr>
            <a:xfrm>
              <a:off x="8366760" y="3108960"/>
              <a:ext cx="2834640" cy="982980"/>
            </a:xfrm>
            <a:prstGeom prst="rect">
              <a:avLst/>
            </a:prstGeom>
            <a:noFill/>
            <a:ln/>
          </p:spPr>
          <p:txBody>
            <a:bodyPr wrap="square" rtlCol="0" anchor="b">
              <a:spAutoFit/>
            </a:bodyPr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30</a:t>
              </a:r>
              <a:endParaRPr lang="en-US" sz="30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8366760" y="4007358"/>
              <a:ext cx="2834640" cy="7863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l" indent="0" marL="0">
                <a:buNone/>
              </a:pPr>
              <a:r>
                <a:rPr lang="en-US" sz="1400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организаций подключено к почте Релкома за первый год</a:t>
              </a:r>
              <a:endParaRPr lang="en-US" sz="1400" dirty="0"/>
            </a:p>
          </p:txBody>
        </p:sp>
      </p:grpSp>
      <p:sp>
        <p:nvSpPr>
          <p:cNvPr id="12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FidoNet: сеть без начальников</a:t>
            </a:r>
            <a:endParaRPr lang="en-US" sz="2800" dirty="0"/>
          </a:p>
        </p:txBody>
      </p:sp>
      <p:grpSp>
        <p:nvGrpSpPr>
          <p:cNvPr id="115" name="ContentGroup"/>
          <p:cNvGrpSpPr/>
          <p:nvPr/>
        </p:nvGrpSpPr>
        <p:grpSpPr>
          <a:xfrm>
            <a:off x="548640" y="585216"/>
            <a:ext cx="11055096" cy="5815584"/>
            <a:chOff x="548640" y="585216"/>
            <a:chExt cx="11055096" cy="5815584"/>
          </a:xfrm>
        </p:grpSpPr>
        <p:sp>
          <p:nvSpPr>
            <p:cNvPr id="3" name="Shape 1"/>
            <p:cNvSpPr/>
            <p:nvPr/>
          </p:nvSpPr>
          <p:spPr>
            <a:xfrm flipV="1">
              <a:off x="9692640" y="667512"/>
              <a:ext cx="6096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10302240" y="667512"/>
              <a:ext cx="6096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 flipV="1">
              <a:off x="10911840" y="667512"/>
              <a:ext cx="6096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961034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10219944" y="585216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1082954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11439144" y="585216"/>
              <a:ext cx="164592" cy="164592"/>
            </a:xfrm>
            <a:prstGeom prst="ellipse">
              <a:avLst/>
            </a:prstGeom>
            <a:solidFill>
              <a:srgbClr val="4CAF7D"/>
            </a:solidFill>
            <a:ln/>
          </p:spPr>
        </p:sp>
        <p:sp>
          <p:nvSpPr>
            <p:cNvPr id="10" name="Text 8"/>
            <p:cNvSpPr txBox="1"/>
            <p:nvPr/>
          </p:nvSpPr>
          <p:spPr>
            <a:xfrm>
              <a:off x="548640" y="1417320"/>
              <a:ext cx="7040880" cy="4983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Первые узлы в СССР появились осенью 1990 года в Новосибирске, Челябинске, Москве и Ленинграде.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 сентября 1990 года был сформирован советский регион сети с номером 2:50.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Общение шло через личную почту (NetMail) и открытые эхоконференции (Echomail) на разные темы.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Подключение почти ничего не стоило, поэтому сеть быстро росла по всей стране.</a:t>
              </a:r>
              <a:endParaRPr lang="en-US" sz="1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138160" y="2926080"/>
              <a:ext cx="3291840" cy="1965960"/>
            </a:xfrm>
            <a:prstGeom prst="roundRect">
              <a:avLst>
                <a:gd name="adj" fmla="val 2791"/>
              </a:avLst>
            </a:prstGeom>
            <a:solidFill>
              <a:srgbClr val="EEF3F6"/>
            </a:solidFill>
            <a:ln/>
          </p:spPr>
        </p:sp>
        <p:sp>
          <p:nvSpPr>
            <p:cNvPr id="12" name="Text 10"/>
            <p:cNvSpPr txBox="1"/>
            <p:nvPr/>
          </p:nvSpPr>
          <p:spPr>
            <a:xfrm>
              <a:off x="8366760" y="3108960"/>
              <a:ext cx="2834640" cy="982980"/>
            </a:xfrm>
            <a:prstGeom prst="rect">
              <a:avLst/>
            </a:prstGeom>
            <a:noFill/>
            <a:ln/>
          </p:spPr>
          <p:txBody>
            <a:bodyPr wrap="square" rtlCol="0" anchor="b">
              <a:spAutoFit/>
            </a:bodyPr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2:50</a:t>
              </a:r>
              <a:endParaRPr lang="en-US" sz="30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8366760" y="4007358"/>
              <a:ext cx="2834640" cy="7863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l" indent="0" marL="0">
                <a:buNone/>
              </a:pPr>
              <a:r>
                <a:rPr lang="en-US" sz="1400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номер советского региона сети FidoNet</a:t>
              </a:r>
              <a:endParaRPr lang="en-US" sz="1400" dirty="0"/>
            </a:p>
          </p:txBody>
        </p:sp>
      </p:grp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Домен .ru и первый сайт Рунета</a:t>
            </a:r>
            <a:endParaRPr lang="en-US" sz="2800" dirty="0"/>
          </a:p>
        </p:txBody>
      </p:sp>
      <p:grpSp>
        <p:nvGrpSpPr>
          <p:cNvPr id="117" name="ContentGroup"/>
          <p:cNvGrpSpPr/>
          <p:nvPr/>
        </p:nvGrpSpPr>
        <p:grpSpPr>
          <a:xfrm>
            <a:off x="548640" y="585216"/>
            <a:ext cx="11055096" cy="5815584"/>
            <a:chOff x="548640" y="585216"/>
            <a:chExt cx="11055096" cy="5815584"/>
          </a:xfrm>
        </p:grpSpPr>
        <p:sp>
          <p:nvSpPr>
            <p:cNvPr id="3" name="Shape 1"/>
            <p:cNvSpPr/>
            <p:nvPr/>
          </p:nvSpPr>
          <p:spPr>
            <a:xfrm flipV="1">
              <a:off x="9692640" y="667512"/>
              <a:ext cx="4572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10149840" y="667512"/>
              <a:ext cx="4572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 flipV="1">
              <a:off x="10607040" y="667512"/>
              <a:ext cx="4572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11064240" y="667512"/>
              <a:ext cx="4572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961034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10067544" y="585216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1052474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10981944" y="585216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11439144" y="777240"/>
              <a:ext cx="164592" cy="164592"/>
            </a:xfrm>
            <a:prstGeom prst="ellipse">
              <a:avLst/>
            </a:prstGeom>
            <a:solidFill>
              <a:srgbClr val="4CAF7D"/>
            </a:solidFill>
            <a:ln/>
          </p:spPr>
        </p:sp>
        <p:sp>
          <p:nvSpPr>
            <p:cNvPr id="12" name="Text 10"/>
            <p:cNvSpPr txBox="1"/>
            <p:nvPr/>
          </p:nvSpPr>
          <p:spPr>
            <a:xfrm>
              <a:off x="548640" y="1417320"/>
              <a:ext cx="7040880" cy="4983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Долгое время советские и российские ресурсы жили в международной зоне .su, которая постепенно переставала отвечать новым задачам.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Международный центр InterNIC зарегистрировал национальный домен .ru, и у российского сегмента сети появилось собственное имя.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Вскоре в новой зоне появился первый сайт: каталог ссылок Russia on the Net, который помогал пользователям ориентироваться в сети.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Администрирование зоны .ru передали Российскому НИИ развития общественных сетей.</a:t>
              </a:r>
              <a:endParaRPr lang="en-US" sz="18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138160" y="2926080"/>
              <a:ext cx="3291840" cy="1965960"/>
            </a:xfrm>
            <a:prstGeom prst="roundRect">
              <a:avLst>
                <a:gd name="adj" fmla="val 2791"/>
              </a:avLst>
            </a:prstGeom>
            <a:solidFill>
              <a:srgbClr val="EEF3F6"/>
            </a:solidFill>
            <a:ln/>
          </p:spPr>
        </p:sp>
        <p:sp>
          <p:nvSpPr>
            <p:cNvPr id="14" name="Text 12"/>
            <p:cNvSpPr txBox="1"/>
            <p:nvPr/>
          </p:nvSpPr>
          <p:spPr>
            <a:xfrm>
              <a:off x="8366760" y="3108960"/>
              <a:ext cx="2834640" cy="982980"/>
            </a:xfrm>
            <a:prstGeom prst="rect">
              <a:avLst/>
            </a:prstGeom>
            <a:noFill/>
            <a:ln/>
          </p:spPr>
          <p:txBody>
            <a:bodyPr wrap="square" rtlCol="0" anchor="b">
              <a:spAutoFit/>
            </a:bodyPr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07.04.1994</a:t>
              </a:r>
              <a:endParaRPr lang="en-US" sz="30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8366760" y="4007358"/>
              <a:ext cx="2834640" cy="7863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l" indent="0" marL="0">
                <a:buNone/>
              </a:pPr>
              <a:r>
                <a:rPr lang="en-US" sz="1400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дата регистрации домена .ru</a:t>
              </a:r>
              <a:endParaRPr lang="en-US" sz="1400" dirty="0"/>
            </a:p>
          </p:txBody>
        </p:sp>
      </p:grpSp>
      <p:sp>
        <p:nvSpPr>
          <p:cNvPr id="16" name="Text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Первые поисковые системы Рунета</a:t>
            </a:r>
            <a:endParaRPr lang="en-US" sz="2800" dirty="0"/>
          </a:p>
        </p:txBody>
      </p:sp>
      <p:grpSp>
        <p:nvGrpSpPr>
          <p:cNvPr id="128" name="ContentGroup"/>
          <p:cNvGrpSpPr/>
          <p:nvPr/>
        </p:nvGrpSpPr>
        <p:grpSpPr>
          <a:xfrm>
            <a:off x="548640" y="585216"/>
            <a:ext cx="11064240" cy="4581144"/>
            <a:chOff x="548640" y="585216"/>
            <a:chExt cx="11064240" cy="4581144"/>
          </a:xfrm>
        </p:grpSpPr>
        <p:sp>
          <p:nvSpPr>
            <p:cNvPr id="3" name="Shape 1"/>
            <p:cNvSpPr/>
            <p:nvPr/>
          </p:nvSpPr>
          <p:spPr>
            <a:xfrm flipV="1">
              <a:off x="9692640" y="667512"/>
              <a:ext cx="36576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10058400" y="667512"/>
              <a:ext cx="36576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 flipV="1">
              <a:off x="10424160" y="667512"/>
              <a:ext cx="36576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10789920" y="667512"/>
              <a:ext cx="36576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 flipV="1">
              <a:off x="11155680" y="667512"/>
              <a:ext cx="36576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961034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9976104" y="585216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1034186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10707624" y="585216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1107338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11439144" y="585216"/>
              <a:ext cx="164592" cy="164592"/>
            </a:xfrm>
            <a:prstGeom prst="ellipse">
              <a:avLst/>
            </a:prstGeom>
            <a:solidFill>
              <a:srgbClr val="4CAF7D"/>
            </a:solidFill>
            <a:ln/>
          </p:spPr>
        </p:sp>
        <p:sp>
          <p:nvSpPr>
            <p:cNvPr id="14" name="Text 12"/>
            <p:cNvSpPr txBox="1"/>
            <p:nvPr/>
          </p:nvSpPr>
          <p:spPr>
            <a:xfrm>
              <a:off x="548640" y="1508760"/>
              <a:ext cx="11064240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lnSpc>
                  <a:spcPct val="130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В 1996–1997 годах в России один за другим запустились три поисковика, определившие облик Рунета на годы вперёд.</a:t>
              </a:r>
              <a:endParaRPr lang="en-US" sz="18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48640" y="3063240"/>
              <a:ext cx="3474720" cy="2103120"/>
            </a:xfrm>
            <a:prstGeom prst="roundRect">
              <a:avLst>
                <a:gd name="adj" fmla="val 2609"/>
              </a:avLst>
            </a:prstGeom>
            <a:solidFill>
              <a:srgbClr val="EEF3F6"/>
            </a:solidFill>
            <a:ln/>
          </p:spPr>
        </p:sp>
        <p:sp>
          <p:nvSpPr>
            <p:cNvPr id="16" name="Text 14"/>
            <p:cNvSpPr txBox="1"/>
            <p:nvPr/>
          </p:nvSpPr>
          <p:spPr>
            <a:xfrm>
              <a:off x="713232" y="3227832"/>
              <a:ext cx="3145536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2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1996</a:t>
              </a:r>
              <a:endParaRPr lang="en-US" sz="22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713232" y="3703320"/>
              <a:ext cx="3145536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Рамблер</a:t>
              </a:r>
              <a:endParaRPr lang="en-US" sz="16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13232" y="4160520"/>
              <a:ext cx="3145536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indent="0" marL="0"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Домен rambler.ru зарегистрирован 8 октября, позже запущен рейтинг сайтов Rambler Top100.</a:t>
              </a:r>
              <a:endParaRPr lang="en-US" sz="12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343400" y="3063240"/>
              <a:ext cx="3474720" cy="2103120"/>
            </a:xfrm>
            <a:prstGeom prst="roundRect">
              <a:avLst>
                <a:gd name="adj" fmla="val 2609"/>
              </a:avLst>
            </a:prstGeom>
            <a:solidFill>
              <a:srgbClr val="EEF3F6"/>
            </a:solidFill>
            <a:ln/>
          </p:spPr>
        </p:sp>
        <p:sp>
          <p:nvSpPr>
            <p:cNvPr id="20" name="Text 18"/>
            <p:cNvSpPr txBox="1"/>
            <p:nvPr/>
          </p:nvSpPr>
          <p:spPr>
            <a:xfrm>
              <a:off x="4507992" y="3227832"/>
              <a:ext cx="3145536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2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1996</a:t>
              </a:r>
              <a:endParaRPr lang="en-US" sz="2200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4507992" y="3703320"/>
              <a:ext cx="3145536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Апорт</a:t>
              </a:r>
              <a:endParaRPr lang="en-US" sz="160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4507992" y="4160520"/>
              <a:ext cx="3145536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indent="0" marL="0"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Впервые показан в феврале 1996 года, официальная презентация состоялась в ноябре 1997 года.</a:t>
              </a:r>
              <a:endParaRPr lang="en-US" sz="12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8138160" y="3063240"/>
              <a:ext cx="3474720" cy="2103120"/>
            </a:xfrm>
            <a:prstGeom prst="roundRect">
              <a:avLst>
                <a:gd name="adj" fmla="val 2609"/>
              </a:avLst>
            </a:prstGeom>
            <a:solidFill>
              <a:srgbClr val="EEF3F6"/>
            </a:solidFill>
            <a:ln/>
          </p:spPr>
        </p:sp>
        <p:sp>
          <p:nvSpPr>
            <p:cNvPr id="24" name="Text 22"/>
            <p:cNvSpPr txBox="1"/>
            <p:nvPr/>
          </p:nvSpPr>
          <p:spPr>
            <a:xfrm>
              <a:off x="8302752" y="3227832"/>
              <a:ext cx="3145536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2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1997</a:t>
              </a:r>
              <a:endParaRPr lang="en-US" sz="220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8302752" y="3703320"/>
              <a:ext cx="3145536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Яндекс</a:t>
              </a:r>
              <a:endParaRPr lang="en-US" sz="1600" dirty="0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8302752" y="4160520"/>
              <a:ext cx="3145536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indent="0" marL="0"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Открыт 23 сентября 1997 года, с самого начала учитывал морфологию русского языка.</a:t>
              </a:r>
              <a:endParaRPr lang="en-US" sz="1250" dirty="0"/>
            </a:p>
          </p:txBody>
        </p:sp>
      </p:grpSp>
      <p:sp>
        <p:nvSpPr>
          <p:cNvPr id="27" name="Text 2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сети энтузиастов к рынку</a:t>
            </a:r>
            <a:endParaRPr lang="en-US" sz="2800" dirty="0"/>
          </a:p>
        </p:txBody>
      </p:sp>
      <p:grpSp>
        <p:nvGrpSpPr>
          <p:cNvPr id="121" name="ContentGroup"/>
          <p:cNvGrpSpPr/>
          <p:nvPr/>
        </p:nvGrpSpPr>
        <p:grpSpPr>
          <a:xfrm>
            <a:off x="548640" y="585216"/>
            <a:ext cx="11055096" cy="5815584"/>
            <a:chOff x="548640" y="585216"/>
            <a:chExt cx="11055096" cy="5815584"/>
          </a:xfrm>
        </p:grpSpPr>
        <p:sp>
          <p:nvSpPr>
            <p:cNvPr id="3" name="Shape 1"/>
            <p:cNvSpPr/>
            <p:nvPr/>
          </p:nvSpPr>
          <p:spPr>
            <a:xfrm flipV="1">
              <a:off x="9692640" y="667512"/>
              <a:ext cx="3048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9997440" y="667512"/>
              <a:ext cx="3048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 flipV="1">
              <a:off x="10302240" y="667512"/>
              <a:ext cx="3048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10607040" y="667512"/>
              <a:ext cx="3048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 flipV="1">
              <a:off x="10911840" y="667512"/>
              <a:ext cx="3048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11216640" y="667512"/>
              <a:ext cx="304800" cy="192024"/>
            </a:xfrm>
            <a:prstGeom prst="line">
              <a:avLst/>
            </a:prstGeom>
            <a:noFill/>
            <a:ln w="15875">
              <a:solidFill>
                <a:srgbClr val="3A506B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961034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9915144" y="585216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1021994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10524744" y="585216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10829544" y="777240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11134344" y="585216"/>
              <a:ext cx="164592" cy="164592"/>
            </a:xfrm>
            <a:prstGeom prst="ellipse">
              <a:avLst/>
            </a:prstGeom>
            <a:solidFill>
              <a:srgbClr val="3A506B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11439144" y="777240"/>
              <a:ext cx="164592" cy="164592"/>
            </a:xfrm>
            <a:prstGeom prst="ellipse">
              <a:avLst/>
            </a:prstGeom>
            <a:solidFill>
              <a:srgbClr val="4CAF7D"/>
            </a:solidFill>
            <a:ln/>
          </p:spPr>
        </p:sp>
        <p:sp>
          <p:nvSpPr>
            <p:cNvPr id="16" name="Text 14"/>
            <p:cNvSpPr txBox="1"/>
            <p:nvPr/>
          </p:nvSpPr>
          <p:spPr>
            <a:xfrm>
              <a:off x="548640" y="1417320"/>
              <a:ext cx="7040880" cy="4983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Первое время подключение к сети часто было бесплатным и держалось на энтузиазме участников.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Счета за международные звонки в Финляндию заставили Демос перейти на коммерческую модель.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Параллельно росли и другие поставщики доступа: Совам Телепорт, ГласНет и другие совместные предприятия предлагали платные почтовые ящики.</a:t>
              </a:r>
              <a:endParaRPr lang="en-US" sz="1800" dirty="0"/>
            </a:p>
            <a:p>
              <a:pPr marL="228600" indent="-228600">
                <a:lnSpc>
                  <a:spcPct val="135000"/>
                </a:lnSpc>
                <a:buSzPct val="100000"/>
                <a:buChar char="■"/>
              </a:pPr>
              <a:r>
                <a:rPr lang="en-US" sz="18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Затем было создано акционерное общество «Релком», уже как коммерческий провайдер.</a:t>
              </a:r>
              <a:endParaRPr lang="en-US" sz="1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138160" y="2926080"/>
              <a:ext cx="3291840" cy="1965960"/>
            </a:xfrm>
            <a:prstGeom prst="roundRect">
              <a:avLst>
                <a:gd name="adj" fmla="val 2791"/>
              </a:avLst>
            </a:prstGeom>
            <a:solidFill>
              <a:srgbClr val="EEF3F6"/>
            </a:solidFill>
            <a:ln/>
          </p:spPr>
        </p:sp>
        <p:sp>
          <p:nvSpPr>
            <p:cNvPr id="18" name="Text 16"/>
            <p:cNvSpPr txBox="1"/>
            <p:nvPr/>
          </p:nvSpPr>
          <p:spPr>
            <a:xfrm>
              <a:off x="8366760" y="3108960"/>
              <a:ext cx="2834640" cy="982980"/>
            </a:xfrm>
            <a:prstGeom prst="rect">
              <a:avLst/>
            </a:prstGeom>
            <a:noFill/>
            <a:ln/>
          </p:spPr>
          <p:txBody>
            <a:bodyPr wrap="square" rtlCol="0" anchor="b">
              <a:spAutoFit/>
            </a:bodyPr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1329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1992</a:t>
              </a:r>
              <a:endParaRPr lang="en-US" sz="30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8366760" y="4007358"/>
              <a:ext cx="2834640" cy="7863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l" indent="0" marL="0">
                <a:buNone/>
              </a:pPr>
              <a:r>
                <a:rPr lang="en-US" sz="1400" dirty="0">
                  <a:solidFill>
                    <a:srgbClr val="3A50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год создания АО «Релком»</a:t>
              </a:r>
              <a:endParaRPr lang="en-US" sz="1400" dirty="0"/>
            </a:p>
          </p:txBody>
        </p:sp>
      </p:grp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</a:t>
            </a:r>
            <a:endParaRPr lang="en-US" sz="3000" dirty="0"/>
          </a:p>
        </p:txBody>
      </p:sp>
      <p:grpSp>
        <p:nvGrpSpPr>
          <p:cNvPr id="105" name="ContentGroup"/>
          <p:cNvGrpSpPr/>
          <p:nvPr/>
        </p:nvGrpSpPr>
        <p:grpSpPr>
          <a:xfrm>
            <a:off x="548640" y="1737360"/>
            <a:ext cx="10789920" cy="4480560"/>
            <a:chOff x="548640" y="1737360"/>
            <a:chExt cx="10789920" cy="4480560"/>
          </a:xfrm>
        </p:grpSpPr>
        <p:sp>
          <p:nvSpPr>
            <p:cNvPr id="3" name="Text 1"/>
            <p:cNvSpPr txBox="1"/>
            <p:nvPr/>
          </p:nvSpPr>
          <p:spPr>
            <a:xfrm>
              <a:off x="548640" y="1737360"/>
              <a:ext cx="10789920" cy="4480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28600" indent="-228600">
                <a:lnSpc>
                  <a:spcPct val="140000"/>
                </a:lnSpc>
                <a:buSzPct val="100000"/>
                <a:buChar char="■"/>
              </a:pPr>
              <a:r>
                <a:rPr lang="en-US" sz="1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За семь лет Россия прошла путь от двух узких сетей учёных и энтузиастов до конкурентного рынка провайдеров и поисковых систем.</a:t>
              </a:r>
              <a:endParaRPr lang="en-US" sz="1900" dirty="0"/>
            </a:p>
            <a:p>
              <a:pPr marL="228600" indent="-228600">
                <a:lnSpc>
                  <a:spcPct val="140000"/>
                </a:lnSpc>
                <a:buSzPct val="100000"/>
                <a:buChar char="■"/>
              </a:pPr>
              <a:r>
                <a:rPr lang="en-US" sz="1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Домен .ru, первые сайты и почтовые сервисы 1990-х годов легли в основу инфраструктуры современного Рунета.</a:t>
              </a:r>
              <a:endParaRPr lang="en-US" sz="1900" dirty="0"/>
            </a:p>
            <a:p>
              <a:pPr marL="228600" indent="-228600">
                <a:lnSpc>
                  <a:spcPct val="140000"/>
                </a:lnSpc>
                <a:buSzPct val="100000"/>
                <a:buChar char="■"/>
              </a:pPr>
              <a:r>
                <a:rPr lang="en-US" sz="1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Решающим шагом стал переход сетей от общественной, любительской модели к коммерческой.</a:t>
              </a:r>
              <a:endParaRPr lang="en-US" sz="1900" dirty="0"/>
            </a:p>
          </p:txBody>
        </p:sp>
      </p:grpSp>
      <p:sp>
        <p:nvSpPr>
          <p:cNvPr id="4" name="Text 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E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en-US" sz="2800" dirty="0"/>
          </a:p>
        </p:txBody>
      </p:sp>
      <p:grpSp>
        <p:nvGrpSpPr>
          <p:cNvPr id="105" name="ContentGroup"/>
          <p:cNvGrpSpPr/>
          <p:nvPr/>
        </p:nvGrpSpPr>
        <p:grpSpPr>
          <a:xfrm>
            <a:off x="548640" y="1600200"/>
            <a:ext cx="11064240" cy="4434840"/>
            <a:chOff x="548640" y="1600200"/>
            <a:chExt cx="11064240" cy="4434840"/>
          </a:xfrm>
        </p:grpSpPr>
        <p:sp>
          <p:nvSpPr>
            <p:cNvPr id="3" name="Text 1"/>
            <p:cNvSpPr txBox="1"/>
            <p:nvPr/>
          </p:nvSpPr>
          <p:spPr>
            <a:xfrm>
              <a:off x="548640" y="1600200"/>
              <a:ext cx="11064240" cy="4434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lnSpc>
                  <a:spcPct val="150000"/>
                </a:lnSpc>
                <a:buNone/>
              </a:pPr>
              <a:r>
                <a:rPr lang="en-US" sz="15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Релком, Википедия. ru.wikipedia.org/wiki/Релком</a:t>
              </a:r>
              <a:endParaRPr lang="en-US" sz="1500" dirty="0"/>
            </a:p>
            <a:p>
              <a:pPr indent="0" marL="0">
                <a:lnSpc>
                  <a:spcPct val="150000"/>
                </a:lnSpc>
                <a:buNone/>
              </a:pPr>
              <a:r>
                <a:rPr lang="en-US" sz="15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Фидонет, Википедия. ru.wikipedia.org/wiki/Фидонет</a:t>
              </a:r>
              <a:endParaRPr lang="en-US" sz="1500" dirty="0"/>
            </a:p>
            <a:p>
              <a:pPr indent="0" marL="0">
                <a:lnSpc>
                  <a:spcPct val="150000"/>
                </a:lnSpc>
                <a:buNone/>
              </a:pPr>
              <a:r>
                <a:rPr lang="en-US" sz="15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История домена .RU. wiki.cctld.ru/domennye-imena/istoriya-domena-ru</a:t>
              </a:r>
              <a:endParaRPr lang="en-US" sz="1500" dirty="0"/>
            </a:p>
            <a:p>
              <a:pPr indent="0" marL="0">
                <a:lnSpc>
                  <a:spcPct val="150000"/>
                </a:lnSpc>
                <a:buNone/>
              </a:pPr>
              <a:r>
                <a:rPr lang="en-US" sz="15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Поисковая система, Википедия. ru.wikipedia.org/wiki/Поисковая_система</a:t>
              </a:r>
              <a:endParaRPr lang="en-US" sz="1500" dirty="0"/>
            </a:p>
            <a:p>
              <a:pPr indent="0" marL="0">
                <a:lnSpc>
                  <a:spcPct val="150000"/>
                </a:lnSpc>
                <a:buNone/>
              </a:pPr>
              <a:r>
                <a:rPr lang="en-US" sz="15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5. Электронная почта в СССР и России. Материалы конференции SORUCOM-2020, computer-museum.ru</a:t>
              </a:r>
              <a:endParaRPr lang="en-US" sz="1500" dirty="0"/>
            </a:p>
          </p:txBody>
        </p:sp>
      </p:grpSp>
      <p:sp>
        <p:nvSpPr>
          <p:cNvPr id="4" name="Text 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29 · Свешников Денис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2026-09-26T16:35:14Z</dcterms:created>
  <dcterms:modified xsi:type="dcterms:W3CDTF">2026-09-26T16:35:14Z</dcterms:modified>
</cp:coreProperties>
</file>